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E7C86"/>
                </a:solidFill>
                <a:latin typeface="Calibri"/>
              </a:rPr>
              <a:t>CAPACITACIÓN INTERNA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084C53"/>
                </a:solidFill>
                <a:latin typeface="Calibri"/>
              </a:rPr>
              <a:t>TherapyCord: cómo funciona</a:t>
            </a:r>
          </a:p>
          <a:p>
            <a:pPr algn="l"/>
            <a:r>
              <a:rPr sz="4400" b="1">
                <a:solidFill>
                  <a:srgbClr val="084C53"/>
                </a:solidFill>
                <a:latin typeface="Calibri"/>
              </a:rPr>
              <a:t>tu sistema de 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555555"/>
                </a:solidFill>
                <a:latin typeface="Calibri"/>
              </a:rPr>
              <a:t>Salud Total + Cordelia (voz y WhatsApp)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846320"/>
            <a:ext cx="1371600" cy="3810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24 de abril 2026 · Hospital Ángeles México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94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Dirigido a: Lic. Lilia · Lic. Montserrat · Lic. Kevin · Lic. Harold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7C86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84C53"/>
                </a:solidFill>
                <a:latin typeface="Calibri"/>
              </a:rPr>
              <a:t>Lo que veremos hoy (≈50 min)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381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640080" cy="548640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640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901952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B2B2B"/>
                </a:solidFill>
                <a:latin typeface="Calibri"/>
              </a:rPr>
              <a:t>El sistema en 1 minuto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1920240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>
                <a:solidFill>
                  <a:srgbClr val="E86A4C"/>
                </a:solidFill>
                <a:latin typeface="Calibri"/>
              </a:rPr>
              <a:t>5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14600"/>
            <a:ext cx="640080" cy="548640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14600"/>
            <a:ext cx="640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87752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B2B2B"/>
                </a:solidFill>
                <a:latin typeface="Calibri"/>
              </a:rPr>
              <a:t>Cómo se agenda un paciente ahora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2606040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>
                <a:solidFill>
                  <a:srgbClr val="E86A4C"/>
                </a:solidFill>
                <a:latin typeface="Calibri"/>
              </a:rPr>
              <a:t>10 min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00400"/>
            <a:ext cx="640080" cy="548640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00400"/>
            <a:ext cx="640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273552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B2B2B"/>
                </a:solidFill>
                <a:latin typeface="Calibri"/>
              </a:rPr>
              <a:t>Tu rol: antes, durante y después de la cita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3291840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>
                <a:solidFill>
                  <a:srgbClr val="E86A4C"/>
                </a:solidFill>
                <a:latin typeface="Calibri"/>
              </a:rPr>
              <a:t>10 min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886200"/>
            <a:ext cx="640080" cy="548640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886200"/>
            <a:ext cx="640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959352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B2B2B"/>
                </a:solidFill>
                <a:latin typeface="Calibri"/>
              </a:rPr>
              <a:t>Salud Total: acceso y tu agenda personal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977640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>
                <a:solidFill>
                  <a:srgbClr val="E86A4C"/>
                </a:solidFill>
                <a:latin typeface="Calibri"/>
              </a:rPr>
              <a:t>15 min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572000"/>
            <a:ext cx="640080" cy="548640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572000"/>
            <a:ext cx="640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645152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B2B2B"/>
                </a:solidFill>
                <a:latin typeface="Calibri"/>
              </a:rPr>
              <a:t>Qué hacer si algo falla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4663440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>
                <a:solidFill>
                  <a:srgbClr val="E86A4C"/>
                </a:solidFill>
                <a:latin typeface="Calibri"/>
              </a:rPr>
              <a:t>5 min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257800"/>
            <a:ext cx="640080" cy="548640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257800"/>
            <a:ext cx="640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5330952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B2B2B"/>
                </a:solidFill>
                <a:latin typeface="Calibri"/>
              </a:rPr>
              <a:t>Preguntas y respuestas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5349240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>
                <a:solidFill>
                  <a:srgbClr val="E86A4C"/>
                </a:solidFill>
                <a:latin typeface="Calibri"/>
              </a:rPr>
              <a:t>5 min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7C86"/>
                </a:solidFill>
                <a:latin typeface="Calibri"/>
              </a:rPr>
              <a:t>MÓDULO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84C53"/>
                </a:solidFill>
                <a:latin typeface="Calibri"/>
              </a:rPr>
              <a:t>El sistema en un minuto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381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555555"/>
                </a:solidFill>
                <a:latin typeface="Calibri"/>
              </a:rPr>
              <a:t>TherapyCord opera con DOS piezas que trabajan juntas: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77440"/>
            <a:ext cx="5303520" cy="38404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E7C86"/>
                </a:solidFill>
                <a:latin typeface="Calibri"/>
              </a:rPr>
              <a:t>1. SALUD TOTAL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2B2B2B"/>
                </a:solidFill>
                <a:latin typeface="Calibri"/>
              </a:rPr>
              <a:t>Expedientes y agenda médica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B2B2B"/>
                </a:solidFill>
                <a:latin typeface="Calibri"/>
              </a:rPr>
              <a:t>• Tu agenda personal con citas del día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97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B2B2B"/>
                </a:solidFill>
                <a:latin typeface="Calibri"/>
              </a:rPr>
              <a:t>• Expediente de cada paciente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6634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B2B2B"/>
                </a:solidFill>
                <a:latin typeface="Calibri"/>
              </a:rPr>
              <a:t>• Notas de sesión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292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B2B2B"/>
                </a:solidFill>
                <a:latin typeface="Calibri"/>
              </a:rPr>
              <a:t>• Cada terapeuta tiene su propia cuenta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377440"/>
            <a:ext cx="5303520" cy="3840480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260604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2. CORDELIA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971800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Asistente virtual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9319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• Contesta el teléfono automáticamente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297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• Atiende mensajes de WhatsApp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6634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• Agenda citas en Salud Total por ti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• Sólo agenda a PACIENTES EXISTENTES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7C86"/>
                </a:solidFill>
                <a:latin typeface="Calibri"/>
              </a:rPr>
              <a:t>CÓMO TE CONTACTAN LOS PACIENTES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84C53"/>
                </a:solidFill>
                <a:latin typeface="Calibri"/>
              </a:rPr>
              <a:t>Cordelia tiene dos canales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381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303520" cy="40233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84C53"/>
                </a:solidFill>
                <a:latin typeface="Calibri"/>
              </a:rPr>
              <a:t>📞  POR TELÉFONO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1752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2B2B"/>
                </a:solidFill>
                <a:latin typeface="Calibri"/>
              </a:rPr>
              <a:t>55 6304 9089 (línea clínica)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74720"/>
            <a:ext cx="475488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B2B2B"/>
                </a:solidFill>
                <a:latin typeface="Calibri"/>
              </a:rPr>
              <a:t>• Cordelia contesta con su voz</a:t>
            </a:r>
          </a:p>
          <a:p>
            <a:pPr algn="l"/>
            <a:r>
              <a:rPr sz="1500" b="0">
                <a:solidFill>
                  <a:srgbClr val="2B2B2B"/>
                </a:solidFill>
                <a:latin typeface="Calibri"/>
              </a:rPr>
              <a:t>• Agenda, reagenda y cancela</a:t>
            </a:r>
          </a:p>
          <a:p>
            <a:pPr algn="l"/>
            <a:r>
              <a:rPr sz="1500" b="0">
                <a:solidFill>
                  <a:srgbClr val="2B2B2B"/>
                </a:solidFill>
                <a:latin typeface="Calibri"/>
              </a:rPr>
              <a:t>• Responde dudas frecuentes</a:t>
            </a:r>
          </a:p>
          <a:p>
            <a:pPr algn="l"/>
            <a:r>
              <a:rPr sz="1500" b="0">
                <a:solidFill>
                  <a:srgbClr val="2B2B2B"/>
                </a:solidFill>
                <a:latin typeface="Calibri"/>
              </a:rPr>
              <a:t>• Transfiere a humano si hace falta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11680"/>
            <a:ext cx="5303520" cy="40233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286000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84C53"/>
                </a:solidFill>
                <a:latin typeface="Calibri"/>
              </a:rPr>
              <a:t>💬  POR WHATSAPP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01752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2B2B"/>
                </a:solidFill>
                <a:latin typeface="Calibri"/>
              </a:rPr>
              <a:t>55 2884 1932 (WhatsApp clínica)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474720"/>
            <a:ext cx="475488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B2B2B"/>
                </a:solidFill>
                <a:latin typeface="Calibri"/>
              </a:rPr>
              <a:t>• Cordelia responde por escrito</a:t>
            </a:r>
          </a:p>
          <a:p>
            <a:pPr algn="l"/>
            <a:r>
              <a:rPr sz="1500" b="0">
                <a:solidFill>
                  <a:srgbClr val="2B2B2B"/>
                </a:solidFill>
                <a:latin typeface="Calibri"/>
              </a:rPr>
              <a:t>• Mismo flujo que por llamada</a:t>
            </a:r>
          </a:p>
          <a:p>
            <a:pPr algn="l"/>
            <a:r>
              <a:rPr sz="1500" b="0">
                <a:solidFill>
                  <a:srgbClr val="2B2B2B"/>
                </a:solidFill>
                <a:latin typeface="Calibri"/>
              </a:rPr>
              <a:t>• Envía código de confirmación</a:t>
            </a:r>
          </a:p>
          <a:p>
            <a:pPr algn="l"/>
            <a:r>
              <a:rPr sz="1500" b="0">
                <a:solidFill>
                  <a:srgbClr val="2B2B2B"/>
                </a:solidFill>
                <a:latin typeface="Calibri"/>
              </a:rPr>
              <a:t>• Manda recordatorio un día antes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E86A4C"/>
                </a:solidFill>
                <a:latin typeface="Calibri"/>
              </a:rPr>
              <a:t>Los dos canales usan el MISMO expediente en Salud Total.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7C86"/>
                </a:solidFill>
                <a:latin typeface="Calibri"/>
              </a:rPr>
              <a:t>TELÉFONOS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84C53"/>
                </a:solidFill>
                <a:latin typeface="Calibri"/>
              </a:rPr>
              <a:t>Dos números que tienes que recordar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381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303520" cy="4206240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ADMISIÓN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06040"/>
            <a:ext cx="4754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55 5516 9900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7472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Para quién: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840480"/>
            <a:ext cx="47548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• Paciente NUEVO (primera vez)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• Paciente con aseguradora / GMM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• Paciente con pase médico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• Paciente que busca reembolso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• Expediente que no se pudo validar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303520" cy="42062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9050">
            <a:solidFill>
              <a:srgbClr val="E86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19456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86A4C"/>
                </a:solidFill>
                <a:latin typeface="Calibri"/>
              </a:rPr>
              <a:t>CLÍNICA (celular)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06040"/>
            <a:ext cx="4754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084C53"/>
                </a:solidFill>
                <a:latin typeface="Calibri"/>
              </a:rPr>
              <a:t>55 2884 1932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47472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B2B2B"/>
                </a:solidFill>
                <a:latin typeface="Calibri"/>
              </a:rPr>
              <a:t>Para quién: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840480"/>
            <a:ext cx="47548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B2B2B"/>
                </a:solidFill>
                <a:latin typeface="Calibri"/>
              </a:rPr>
              <a:t>• Queja, molestia o frustración</a:t>
            </a:r>
          </a:p>
          <a:p>
            <a:pPr algn="l"/>
            <a:r>
              <a:rPr sz="1500" b="0">
                <a:solidFill>
                  <a:srgbClr val="2B2B2B"/>
                </a:solidFill>
                <a:latin typeface="Calibri"/>
              </a:rPr>
              <a:t>• Emergencia médica real</a:t>
            </a:r>
          </a:p>
          <a:p>
            <a:pPr algn="l"/>
            <a:r>
              <a:rPr sz="1500" b="0">
                <a:solidFill>
                  <a:srgbClr val="2B2B2B"/>
                </a:solidFill>
                <a:latin typeface="Calibri"/>
              </a:rPr>
              <a:t>• Transferencia a humano</a:t>
            </a:r>
          </a:p>
          <a:p>
            <a:pPr algn="l"/>
            <a:r>
              <a:rPr sz="1500" b="0">
                <a:solidFill>
                  <a:srgbClr val="2B2B2B"/>
                </a:solidFill>
                <a:latin typeface="Calibri"/>
              </a:rPr>
              <a:t>• Lo que Cordelia no puede resolver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7C86"/>
                </a:solidFill>
                <a:latin typeface="Calibri"/>
              </a:rPr>
              <a:t>REGLA DE ORO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84C53"/>
                </a:solidFill>
                <a:latin typeface="Calibri"/>
              </a:rPr>
              <a:t>¿Quién agenda a quién?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381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2B2B"/>
                </a:solidFill>
                <a:latin typeface="Calibri"/>
              </a:rPr>
              <a:t>Cordelia sólo agenda a pacientes EXISTENTES ya validados.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77440"/>
            <a:ext cx="5486400" cy="3657600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✅ PACIENTE EXISTENTE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Cordelia lo agenda directo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4048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1. Pide teléfono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22452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2. Pide fecha de nacimiento O email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608576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3. Confirma en Salud Total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992624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4. Ofrece horarios con tu agenda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7667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5. Agenda y envía código MMDD-##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377440"/>
            <a:ext cx="5486400" cy="3657600"/>
          </a:xfrm>
          <a:prstGeom prst="roundRect">
            <a:avLst>
              <a:gd name="adj" fmla="val 8000"/>
            </a:avLst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60604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🔁 PACIENTE NUEVO · ASEGURADORA · PASE · REEMBOLSO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108960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Cordelia deriva a ADMISIÓN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84048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1. Cordelia pregunta: «¿primera vez?»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22452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2. Si sí → da el número 55 5516 9900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608576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3. Ofrece conectar la llamada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992624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4. Admisión crea el expediente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537667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5. Admisión agenda la valoración inicial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7C86"/>
                </a:solidFill>
                <a:latin typeface="Calibri"/>
              </a:rPr>
              <a:t>SEGURIDAD DEL EXPEDIENTE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84C53"/>
                </a:solidFill>
                <a:latin typeface="Calibri"/>
              </a:rPr>
              <a:t>Cómo Cordelia valida a un paciente existente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381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2B2B2B"/>
                </a:solidFill>
                <a:latin typeface="Calibri"/>
              </a:rPr>
              <a:t>Antes de agendar, Cordelia pide DOS datos que coincidan con el expediente: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68880"/>
            <a:ext cx="3657600" cy="31089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920240" y="265176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40" y="265176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49039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2B2B2B"/>
                </a:solidFill>
                <a:latin typeface="Calibri"/>
              </a:rPr>
              <a:t>Teléfono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38912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Calibri"/>
              </a:rPr>
              <a:t>Siempre obligatorio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2468880"/>
            <a:ext cx="3657600" cy="31089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06440" y="265176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06440" y="265176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3749039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2B2B2B"/>
                </a:solidFill>
                <a:latin typeface="Calibri"/>
              </a:rPr>
              <a:t>Fecha de nacimiento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438912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Calibri"/>
              </a:rPr>
              <a:t>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2468880"/>
            <a:ext cx="3657600" cy="31089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92640" y="265176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0" y="265176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=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3749039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2B2B2B"/>
                </a:solidFill>
                <a:latin typeface="Calibri"/>
              </a:rPr>
              <a:t>Correo electrónico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438912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Calibri"/>
              </a:rPr>
              <a:t>Cualquiera de los dos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852160"/>
            <a:ext cx="11064240" cy="640080"/>
          </a:xfrm>
          <a:prstGeom prst="roundRect">
            <a:avLst>
              <a:gd name="adj" fmla="val 8000"/>
            </a:avLst>
          </a:prstGeom>
          <a:solidFill>
            <a:srgbClr val="FF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85216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E86A4C"/>
                </a:solidFill>
                <a:latin typeface="Calibri"/>
              </a:rPr>
              <a:t>Si los datos no coinciden o el paciente no existe → Cordelia lo deriva a admisión.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7C86"/>
                </a:solidFill>
                <a:latin typeface="Calibri"/>
              </a:rPr>
              <a:t>ANTES · DURANTE · DESPUÉS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84C53"/>
                </a:solidFill>
                <a:latin typeface="Calibri"/>
              </a:rPr>
              <a:t>Tu rol como terapeuta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381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3657600" cy="43891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48840"/>
            <a:ext cx="3108960" cy="508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2B2B"/>
                </a:solidFill>
                <a:latin typeface="Calibri"/>
              </a:rPr>
              <a:t>ANTES de la cita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1752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2B2B2B"/>
                </a:solidFill>
                <a:latin typeface="Calibri"/>
              </a:rPr>
              <a:t>• Abre tu agenda en Salud Total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5760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2B2B2B"/>
                </a:solidFill>
                <a:latin typeface="Calibri"/>
              </a:rPr>
              <a:t>• Revisa nombre, hora y motivo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297679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2B2B2B"/>
                </a:solidFill>
                <a:latin typeface="Calibri"/>
              </a:rPr>
              <a:t>• Lee las notas de la sesión previa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937759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2B2B2B"/>
                </a:solidFill>
                <a:latin typeface="Calibri"/>
              </a:rPr>
              <a:t>• Prepara el material que necesites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920240"/>
            <a:ext cx="3657600" cy="43891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09160" y="2148840"/>
            <a:ext cx="3108960" cy="50800"/>
          </a:xfrm>
          <a:prstGeom prst="rect">
            <a:avLst/>
          </a:prstGeom>
          <a:solidFill>
            <a:srgbClr val="084C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233172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2B2B"/>
                </a:solidFill>
                <a:latin typeface="Calibri"/>
              </a:rPr>
              <a:t>DURANTE la sesión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301752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2B2B2B"/>
                </a:solidFill>
                <a:latin typeface="Calibri"/>
              </a:rPr>
              <a:t>• 40-45 min individualizados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365760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2B2B2B"/>
                </a:solidFill>
                <a:latin typeface="Calibri"/>
              </a:rPr>
              <a:t>• Pregunta por dolor o cambios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4297679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2B2B2B"/>
                </a:solidFill>
                <a:latin typeface="Calibri"/>
              </a:rPr>
              <a:t>• Aplica el plan de tratamiento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4937759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2B2B2B"/>
                </a:solidFill>
                <a:latin typeface="Calibri"/>
              </a:rPr>
              <a:t>• Explica ejercicios en casa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1920240"/>
            <a:ext cx="3657600" cy="43891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95360" y="2148840"/>
            <a:ext cx="3108960" cy="5080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0" y="233172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2B2B"/>
                </a:solidFill>
                <a:latin typeface="Calibri"/>
              </a:rPr>
              <a:t>DESPUÉS de la sesión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301752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2B2B2B"/>
                </a:solidFill>
                <a:latin typeface="Calibri"/>
              </a:rPr>
              <a:t>• Registra la nota en Salud Total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365760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2B2B2B"/>
                </a:solidFill>
                <a:latin typeface="Calibri"/>
              </a:rPr>
              <a:t>• Anota ejercicios realizados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4297679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2B2B2B"/>
                </a:solidFill>
                <a:latin typeface="Calibri"/>
              </a:rPr>
              <a:t>• Plan para siguiente sesión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4937759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2B2B2B"/>
                </a:solidFill>
                <a:latin typeface="Calibri"/>
              </a:rPr>
              <a:t>• Observaciones relevantes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7C86"/>
                </a:solidFill>
                <a:latin typeface="Calibri"/>
              </a:rPr>
              <a:t>MÓDULO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84C53"/>
                </a:solidFill>
                <a:latin typeface="Calibri"/>
              </a:rPr>
              <a:t>Cómo entras a Salud Total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381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Cada terapeuta tiene su propia cuenta. Úsala siempre, no la prestes.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77440"/>
            <a:ext cx="11064240" cy="1005840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🌐   www.saludtotal.mx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657600"/>
            <a:ext cx="11064240" cy="457200"/>
          </a:xfrm>
          <a:prstGeom prst="roundRect">
            <a:avLst>
              <a:gd name="adj" fmla="val 8000"/>
            </a:avLst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657600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TERAPEUTA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657600"/>
            <a:ext cx="4572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USUARIO (EMAIL)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3657600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CONTRASEÑA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60520"/>
            <a:ext cx="11064240" cy="4114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160520"/>
            <a:ext cx="36576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2B2B2B"/>
                </a:solidFill>
                <a:latin typeface="Calibri"/>
              </a:rPr>
              <a:t>Lic. Lilia Salazar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160520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2B2B2B"/>
                </a:solidFill>
                <a:latin typeface="Calibri"/>
              </a:rPr>
              <a:t>lilia@therapycord.com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4160520"/>
            <a:ext cx="21945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E86A4C"/>
                </a:solidFill>
                <a:latin typeface="Calibri"/>
              </a:rPr>
              <a:t>123456789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617720"/>
            <a:ext cx="1106424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617720"/>
            <a:ext cx="36576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2B2B2B"/>
                </a:solidFill>
                <a:latin typeface="Calibri"/>
              </a:rPr>
              <a:t>Lic. Montserrat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617720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2B2B2B"/>
                </a:solidFill>
                <a:latin typeface="Calibri"/>
              </a:rPr>
              <a:t>monste@therapycord.com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4617720"/>
            <a:ext cx="21945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E86A4C"/>
                </a:solidFill>
                <a:latin typeface="Calibri"/>
              </a:rPr>
              <a:t>123456789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074920"/>
            <a:ext cx="11064240" cy="4114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074920"/>
            <a:ext cx="36576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2B2B2B"/>
                </a:solidFill>
                <a:latin typeface="Calibri"/>
              </a:rPr>
              <a:t>Lic. Kevin Castellanos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074920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2B2B2B"/>
                </a:solidFill>
                <a:latin typeface="Calibri"/>
              </a:rPr>
              <a:t>kevin@therapycord.com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5074920"/>
            <a:ext cx="21945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E86A4C"/>
                </a:solidFill>
                <a:latin typeface="Calibri"/>
              </a:rPr>
              <a:t>123456789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532119"/>
            <a:ext cx="1106424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532119"/>
            <a:ext cx="36576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2B2B2B"/>
                </a:solidFill>
                <a:latin typeface="Calibri"/>
              </a:rPr>
              <a:t>Lic. Harold Ildefonso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5532119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2B2B2B"/>
                </a:solidFill>
                <a:latin typeface="Calibri"/>
              </a:rPr>
              <a:t>harold@therapycord.com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5532119"/>
            <a:ext cx="21945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E86A4C"/>
                </a:solidFill>
                <a:latin typeface="Calibri"/>
              </a:rPr>
              <a:t>123456789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E86A4C"/>
                </a:solidFill>
                <a:latin typeface="Calibri"/>
              </a:rPr>
              <a:t>⚠ Cambia tu contraseña en cuanto entres por primera vez.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7C86"/>
                </a:solidFill>
                <a:latin typeface="Calibri"/>
              </a:rPr>
              <a:t>PASO A PASO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84C53"/>
                </a:solidFill>
                <a:latin typeface="Calibri"/>
              </a:rPr>
              <a:t>Así ves tu agenda del día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381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303520" cy="10058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28600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103120"/>
            <a:ext cx="42062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2B2B2B"/>
                </a:solidFill>
                <a:latin typeface="Calibri"/>
              </a:rPr>
              <a:t>Entra a Salud Total con tu usuario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103120"/>
            <a:ext cx="5303520" cy="10058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75120" y="228600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28600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0" y="2103120"/>
            <a:ext cx="42062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2B2B2B"/>
                </a:solidFill>
                <a:latin typeface="Calibri"/>
              </a:rPr>
              <a:t>Ve al menú 'Agenda'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337560"/>
            <a:ext cx="5303520" cy="10058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352044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52044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337560"/>
            <a:ext cx="42062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2B2B2B"/>
                </a:solidFill>
                <a:latin typeface="Calibri"/>
              </a:rPr>
              <a:t>Filtra por tu nombre (sólo tú)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3337560"/>
            <a:ext cx="5303520" cy="10058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75120" y="352044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352044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0" y="3337560"/>
            <a:ext cx="42062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2B2B2B"/>
                </a:solidFill>
                <a:latin typeface="Calibri"/>
              </a:rPr>
              <a:t>Elige el día en el calendario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572000"/>
            <a:ext cx="5303520" cy="10058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4400" y="475488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548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4572000"/>
            <a:ext cx="42062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2B2B2B"/>
                </a:solidFill>
                <a:latin typeface="Calibri"/>
              </a:rPr>
              <a:t>Verde = libre · Rojo = ocupado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4572000"/>
            <a:ext cx="5303520" cy="10058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675120" y="475488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47548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0" y="4572000"/>
            <a:ext cx="42062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2B2B2B"/>
                </a:solidFill>
                <a:latin typeface="Calibri"/>
              </a:rPr>
              <a:t>Click en la cita → verás paciente y motivo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E7C86"/>
                </a:solidFill>
                <a:latin typeface="Calibri"/>
              </a:rPr>
              <a:t>Tip: guarda el link directo a tu agenda como favorito en el navegador.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7C86"/>
                </a:solidFill>
                <a:latin typeface="Calibri"/>
              </a:rPr>
              <a:t>CORDELIA LO HACE POR 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84C53"/>
                </a:solidFill>
                <a:latin typeface="Calibri"/>
              </a:rPr>
              <a:t>Lo que YA NO es tu chamba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381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303520" cy="17373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E86A4C"/>
                </a:solidFill>
                <a:latin typeface="Calibri"/>
              </a:rPr>
              <a:t>❌ Contestar el teléfono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26080"/>
            <a:ext cx="4754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2B2B2B"/>
                </a:solidFill>
                <a:latin typeface="Calibri"/>
              </a:rPr>
              <a:t>Cordelia atiende las llamadas entrantes.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2011680"/>
            <a:ext cx="5303520" cy="17373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228600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E86A4C"/>
                </a:solidFill>
                <a:latin typeface="Calibri"/>
              </a:rPr>
              <a:t>❌ Responder mensajes de WhatsApp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926080"/>
            <a:ext cx="4754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2B2B2B"/>
                </a:solidFill>
                <a:latin typeface="Calibri"/>
              </a:rPr>
              <a:t>Cordelia platica con el paciente y agenda.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23360"/>
            <a:ext cx="5303520" cy="17373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9768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E86A4C"/>
                </a:solidFill>
                <a:latin typeface="Calibri"/>
              </a:rPr>
              <a:t>❌ Agendar pacientes nuevos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937760"/>
            <a:ext cx="4754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2B2B2B"/>
                </a:solidFill>
                <a:latin typeface="Calibri"/>
              </a:rPr>
              <a:t>Los nuevos van a admisión 55 5516 9900.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4023360"/>
            <a:ext cx="5303520" cy="17373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429768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E86A4C"/>
                </a:solidFill>
                <a:latin typeface="Calibri"/>
              </a:rPr>
              <a:t>❌ Dar precios por teléfono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937760"/>
            <a:ext cx="4754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2B2B2B"/>
                </a:solidFill>
                <a:latin typeface="Calibri"/>
              </a:rPr>
              <a:t>Precios se explican en la valoración inicial.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84C53"/>
                </a:solidFill>
                <a:latin typeface="Calibri"/>
              </a:rPr>
              <a:t>Tu atención se enfoca en lo clínico. La logística la resuelve el sistema.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7C86"/>
                </a:solidFill>
                <a:latin typeface="Calibri"/>
              </a:rPr>
              <a:t>ESCALA INTELIGENTE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84C53"/>
                </a:solidFill>
                <a:latin typeface="Calibri"/>
              </a:rPr>
              <a:t>Si algo falla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381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5029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SITUACIÓN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920240"/>
            <a:ext cx="3200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QUÉ HACER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1920240"/>
            <a:ext cx="2194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CONTACTO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6888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468880"/>
            <a:ext cx="50292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B2B2B"/>
                </a:solidFill>
                <a:latin typeface="Calibri"/>
              </a:rPr>
              <a:t>Cordelia no contesta una llamada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468880"/>
            <a:ext cx="32004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084C53"/>
                </a:solidFill>
                <a:latin typeface="Calibri"/>
              </a:rPr>
              <a:t>Avisa a Vicci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2468880"/>
            <a:ext cx="21945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E86A4C"/>
                </a:solidFill>
                <a:latin typeface="Calibri"/>
              </a:rPr>
              <a:t>55 1188 0301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108959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108959"/>
            <a:ext cx="50292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B2B2B"/>
                </a:solidFill>
                <a:latin typeface="Calibri"/>
              </a:rPr>
              <a:t>Cita duplicada o equivocada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108959"/>
            <a:ext cx="32004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084C53"/>
                </a:solidFill>
                <a:latin typeface="Calibri"/>
              </a:rPr>
              <a:t>Corrige en Salud Total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3108959"/>
            <a:ext cx="21945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E86A4C"/>
                </a:solidFill>
                <a:latin typeface="Calibri"/>
              </a:rPr>
              <a:t>o avisa admisión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4904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749040"/>
            <a:ext cx="50292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B2B2B"/>
                </a:solidFill>
                <a:latin typeface="Calibri"/>
              </a:rPr>
              <a:t>Paciente molesto o con queja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749040"/>
            <a:ext cx="32004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084C53"/>
                </a:solidFill>
                <a:latin typeface="Calibri"/>
              </a:rPr>
              <a:t>Transfiere a clínica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3749040"/>
            <a:ext cx="21945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E86A4C"/>
                </a:solidFill>
                <a:latin typeface="Calibri"/>
              </a:rPr>
              <a:t>55 2884 1932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389119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389119"/>
            <a:ext cx="50292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B2B2B"/>
                </a:solidFill>
                <a:latin typeface="Calibri"/>
              </a:rPr>
              <a:t>Caso nuevo / aseguradora / pase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389119"/>
            <a:ext cx="32004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084C53"/>
                </a:solidFill>
                <a:latin typeface="Calibri"/>
              </a:rPr>
              <a:t>Deriva a admisión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4389119"/>
            <a:ext cx="21945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E86A4C"/>
                </a:solidFill>
                <a:latin typeface="Calibri"/>
              </a:rPr>
              <a:t>55 5516 9900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02920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029200"/>
            <a:ext cx="50292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B2B2B"/>
                </a:solidFill>
                <a:latin typeface="Calibri"/>
              </a:rPr>
              <a:t>Dudas operativas internas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5029200"/>
            <a:ext cx="32004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084C53"/>
                </a:solidFill>
                <a:latin typeface="Calibri"/>
              </a:rPr>
              <a:t>Dr. Ivan o Vicci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5029200"/>
            <a:ext cx="21945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E86A4C"/>
                </a:solidFill>
                <a:latin typeface="Calibri"/>
              </a:rPr>
              <a:t>—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4C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11064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Calibri"/>
              </a:rPr>
              <a:t>¿Preguntas?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CFE7EA"/>
                </a:solidFill>
                <a:latin typeface="Calibri"/>
              </a:rPr>
              <a:t>Antes de terminar, vamos por las dudas de todos.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0" y="4572000"/>
            <a:ext cx="1188720" cy="5080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84632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Gracias por hacer posible TherapyCord.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